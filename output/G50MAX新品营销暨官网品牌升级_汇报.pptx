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A651"/>
                </a:solidFill>
                <a:latin typeface="微软雅黑"/>
                <a:ea typeface="微软雅黑"/>
              </a:rPr>
              <a:t>GlocalMe · 2026 年 7 月 · 市场部呈报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</a:pPr>
            <a:r>
              <a:rPr sz="4000" b="1">
                <a:solidFill>
                  <a:srgbClr val="1A1F1C"/>
                </a:solidFill>
                <a:latin typeface="微软雅黑"/>
                <a:ea typeface="微软雅黑"/>
              </a:rPr>
              <a:t>G50 MAX 新品营销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4000" b="1">
                <a:solidFill>
                  <a:srgbClr val="1A1F1C"/>
                </a:solidFill>
                <a:latin typeface="微软雅黑"/>
                <a:ea typeface="微软雅黑"/>
              </a:rPr>
              <a:t>暨 GlocalMe 官网品牌升级方案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67746E"/>
                </a:solidFill>
                <a:latin typeface="微软雅黑"/>
                <a:ea typeface="微软雅黑"/>
              </a:rPr>
              <a:t>预算申请与价值说明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7863840" cy="1051560"/>
          </a:xfrm>
          <a:prstGeom prst="roundRect">
            <a:avLst/>
          </a:prstGeom>
          <a:solidFill>
            <a:srgbClr val="F0FAF4"/>
          </a:solidFill>
          <a:ln w="127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795C"/>
                </a:solidFill>
                <a:latin typeface="微软雅黑"/>
                <a:ea typeface="微软雅黑"/>
              </a:rPr>
              <a:t>本次申请：已明确 38.5 万元</a:t>
            </a:r>
            <a:r>
              <a:rPr sz="1300" b="0">
                <a:solidFill>
                  <a:srgbClr val="1A1F1C"/>
                </a:solidFill>
                <a:latin typeface="微软雅黑"/>
                <a:ea typeface="微软雅黑"/>
              </a:rPr>
              <a:t>（官网 10–11 万 · 国内 KOL 18 万 · PR 10 万）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待定项：市场地位认证（18.5 万起）· GEO/社媒；海外 KOL 5.9 万美金已确认投入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01 核心判断与依据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产品力已验证，品牌力是唯一瓶颈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55680" cy="960120"/>
          </a:xfrm>
          <a:prstGeom prst="roundRect">
            <a:avLst/>
          </a:prstGeom>
          <a:solidFill>
            <a:srgbClr val="F0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F1C"/>
                </a:solidFill>
                <a:latin typeface="微软雅黑"/>
                <a:ea typeface="微软雅黑"/>
              </a:rPr>
              <a:t>G50 MAX 用 20 多天、零营销投入证明了“GlocalMe 卖得动 499 美金的旗舰”。建议借 新品上市 × 暑期旺季 × 官网增长期 三窗口叠加之机，补齐品牌短板，把产品势能放大为下半年的确定性增长。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38404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795C"/>
                </a:solidFill>
                <a:latin typeface="微软雅黑"/>
                <a:ea typeface="微软雅黑"/>
              </a:rPr>
              <a:t>100 台+ / 20 天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G50 MAX（499 美金）海外零营销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自然售出约 5 万美金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高客单价市场验证成立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640080" cy="6400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260604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38404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795C"/>
                </a:solidFill>
                <a:latin typeface="微软雅黑"/>
                <a:ea typeface="微软雅黑"/>
              </a:rPr>
              <a:t>$13 万 / 月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官网月销突破 13 万美金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（年初 10 万+）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下半年公司级增长重点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834640"/>
            <a:ext cx="640080" cy="6400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2440" y="260604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38404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795C"/>
                </a:solidFill>
                <a:latin typeface="微软雅黑"/>
                <a:ea typeface="微软雅黑"/>
              </a:rPr>
              <a:t>42 万 → 60 万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国内电商 6 月销量 42 万+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7 月冲刺 60 万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G50 MAX 国内 7 月底上市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834640"/>
            <a:ext cx="640080" cy="6400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7410"/>
                </a:solidFill>
                <a:latin typeface="微软雅黑"/>
                <a:ea typeface="微软雅黑"/>
              </a:rPr>
              <a:t>不做的代价：</a:t>
            </a:r>
            <a:r>
              <a:rPr sz="1400" b="0">
                <a:solidFill>
                  <a:srgbClr val="1A1F1C"/>
                </a:solidFill>
                <a:latin typeface="微软雅黑"/>
                <a:ea typeface="微软雅黑"/>
              </a:rPr>
              <a:t>“开创者”话语权先到先得；暑期流量错过再等一年；官网月销 13 万美金的流量，每天都在被旧版首页消耗。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02 投入总览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五项投入：做什么、花多少、换回什么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2014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160520"/>
                <a:gridCol w="201168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核心内容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预算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直接回报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1. 官网品牌化升级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构建承载高端产品的品牌力：首页 11 模块重构，对标 Anker / DJI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10–11 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转化率 +10% 即月增约 9 万元，1–2 个月回本；8 月底上线承接 Q4 黑五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2. 市场地位认证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①全球随身 WiFi 领导者 ②全球卫星随身 WiFi 开创者 ③全球市占率第一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待定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（18.5 万起）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“第一/领导者”的合法话语权，详情页/直播间/广告全渠道复用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3. 新品 KOL 营销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海外已启动（5.9 万美金）；国内抖音 7–9 月三阶段种草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18 万（国内）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7 月国内冲击 60 万，Q3 国内增长 40%、海外独立站增长 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4. PR 发稿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海外 + 国内媒体及垂类公众号：上市定调 → 认证官宣 → 口碑传播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10 万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“全球首款卫星通信随身 WiFi”品类定义权，谁先官宣谁是命名者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5. GEO + 社媒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AI 搜索（GEO）+ 社媒长效运营，加强精准搜索入口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待定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抢占 AI 时代品牌搜索与流量新入口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71500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795C"/>
                </a:solidFill>
                <a:latin typeface="微软雅黑"/>
                <a:ea typeface="微软雅黑"/>
              </a:rPr>
              <a:t>为什么要一起做：</a:t>
            </a:r>
            <a:r>
              <a:rPr sz="1300" b="0">
                <a:solidFill>
                  <a:srgbClr val="1A1F1C"/>
                </a:solidFill>
                <a:latin typeface="微软雅黑"/>
                <a:ea typeface="微软雅黑"/>
              </a:rPr>
              <a:t>新品上市 + 认证给 PR 新闻点 → PR 给达人背书素材 → 达人给电商与官网导流 → 升级后的官网完成转化。砍掉任何一环，其余各环效率都打折。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03 重点项目 · 一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官网品牌化升级：10–11 万，1–2 个月回本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40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 tIns="2286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A651"/>
                </a:solidFill>
                <a:latin typeface="微软雅黑"/>
                <a:ea typeface="微软雅黑"/>
              </a:rPr>
              <a:t>做什么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1">
                <a:solidFill>
                  <a:srgbClr val="1A1F1C"/>
                </a:solidFill>
                <a:latin typeface="微软雅黑"/>
                <a:ea typeface="微软雅黑"/>
              </a:rPr>
              <a:t>· 首页 11 大模块重构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7746E"/>
                </a:solidFill>
                <a:latin typeface="微软雅黑"/>
                <a:ea typeface="微软雅黑"/>
              </a:rPr>
              <a:t>  英雄区 / 品牌背书区 / 旗舰系列区 / 场景方案区 / 爆款新品区 / 口碑区…全面对标 Anker、DJI、Ugreen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1">
                <a:solidFill>
                  <a:srgbClr val="1A1F1C"/>
                </a:solidFill>
                <a:latin typeface="微软雅黑"/>
                <a:ea typeface="微软雅黑"/>
              </a:rPr>
              <a:t>· 费用构成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7746E"/>
                </a:solidFill>
                <a:latin typeface="微软雅黑"/>
                <a:ea typeface="微软雅黑"/>
              </a:rPr>
              <a:t>  Shopify 开发 4.4 万 + 建模渲染 8.9 万（谈判价），总包压缩至 10–11 万（原报价 13.4 万）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1">
                <a:solidFill>
                  <a:srgbClr val="1A1F1C"/>
                </a:solidFill>
                <a:latin typeface="微软雅黑"/>
                <a:ea typeface="微软雅黑"/>
              </a:rPr>
              <a:t>· 上线节点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7746E"/>
                </a:solidFill>
                <a:latin typeface="微软雅黑"/>
                <a:ea typeface="微软雅黑"/>
              </a:rPr>
              <a:t>  8 月底上线，承接 Q4 黑五网一全年最大流量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440680" cy="4114800"/>
          </a:xfrm>
          <a:prstGeom prst="roundRect">
            <a:avLst/>
          </a:prstGeom>
          <a:solidFill>
            <a:srgbClr val="F0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 tIns="2286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A651"/>
                </a:solidFill>
                <a:latin typeface="微软雅黑"/>
                <a:ea typeface="微软雅黑"/>
              </a:rPr>
              <a:t>换回什么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00795C"/>
                </a:solidFill>
                <a:latin typeface="微软雅黑"/>
                <a:ea typeface="微软雅黑"/>
              </a:rPr>
              <a:t>+10% 转化 ≈ 月增 9 万元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1A1F1C"/>
                </a:solidFill>
                <a:latin typeface="微软雅黑"/>
                <a:ea typeface="微软雅黑"/>
              </a:rPr>
              <a:t>按官网月销 13 万美金测算，转化率每提升 10%，月增约 1.3 万美金；一次性投入 1–2 个月收回，此后为纯增量。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1">
                <a:solidFill>
                  <a:srgbClr val="1A1F1C"/>
                </a:solidFill>
                <a:latin typeface="微软雅黑"/>
                <a:ea typeface="微软雅黑"/>
              </a:rPr>
              <a:t>全部流量的“落地页”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1A1F1C"/>
                </a:solidFill>
                <a:latin typeface="微软雅黑"/>
                <a:ea typeface="微软雅黑"/>
              </a:rPr>
              <a:t>KOL、PR、广告带来的每一个访客，最终都在官网完成“敢不敢付 499 美金”的决策——高端购买体验是其余投入的转化保障。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04 重点项目 · 二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市场地位认证：买下全渠道的合法话语权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① GlocalMe 漫游超人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67746E"/>
                </a:solidFill>
                <a:latin typeface="微软雅黑"/>
                <a:ea typeface="微软雅黑"/>
              </a:rPr>
              <a:t>全球便携式无线路由终端（随身 WiFi）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900" b="1">
                <a:solidFill>
                  <a:srgbClr val="00795C"/>
                </a:solidFill>
                <a:latin typeface="微软雅黑"/>
                <a:ea typeface="微软雅黑"/>
              </a:rPr>
              <a:t>领导者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67746E"/>
                </a:solidFill>
                <a:latin typeface="微软雅黑"/>
                <a:ea typeface="微软雅黑"/>
              </a:rPr>
              <a:t>用途：全线品牌背书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1732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② GlocalMe 漫游超人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67746E"/>
                </a:solidFill>
                <a:latin typeface="微软雅黑"/>
                <a:ea typeface="微软雅黑"/>
              </a:rPr>
              <a:t>全球卫星便携无线路由终端（随身 WiFi）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900" b="1">
                <a:solidFill>
                  <a:srgbClr val="00795C"/>
                </a:solidFill>
                <a:latin typeface="微软雅黑"/>
                <a:ea typeface="微软雅黑"/>
              </a:rPr>
              <a:t>开创者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67746E"/>
                </a:solidFill>
                <a:latin typeface="微软雅黑"/>
                <a:ea typeface="微软雅黑"/>
              </a:rPr>
              <a:t>用途：G50 MAX 品类定义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41732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③ GlocalMe 漫游超人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67746E"/>
                </a:solidFill>
                <a:latin typeface="微软雅黑"/>
                <a:ea typeface="微软雅黑"/>
              </a:rPr>
              <a:t>便携式无线路由终端（随身 WiFi）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900" b="1">
                <a:solidFill>
                  <a:srgbClr val="00795C"/>
                </a:solidFill>
                <a:latin typeface="微软雅黑"/>
                <a:ea typeface="微软雅黑"/>
              </a:rPr>
              <a:t>全球市占率第一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67746E"/>
                </a:solidFill>
                <a:latin typeface="微软雅黑"/>
                <a:ea typeface="微软雅黑"/>
              </a:rPr>
              <a:t>用途：详情页 / 直播间核心话术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474720"/>
          <a:ext cx="11201400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017520"/>
                <a:gridCol w="2880360"/>
                <a:gridCol w="292608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供应商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报价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交付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宏砺精策 × 中国中小企业协会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单项 6.5 万；3 项打包 18.5 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确认书 + 调研报告，30 个工作日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★ 推荐：性价比最优，先行推进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弗若斯特沙利文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48 万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行业地位确认 + 报告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高配备选，视预算决策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欧睿国际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询价中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对比后补充决策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7410"/>
                </a:solidFill>
                <a:latin typeface="微软雅黑"/>
                <a:ea typeface="微软雅黑"/>
              </a:rPr>
              <a:t>为什么必须做：</a:t>
            </a:r>
            <a:r>
              <a:rPr sz="1250" b="0">
                <a:solidFill>
                  <a:srgbClr val="1A1F1C"/>
                </a:solidFill>
                <a:latin typeface="微软雅黑"/>
                <a:ea typeface="微软雅黑"/>
              </a:rPr>
              <a:t>《广告法》要求“第一 / 领导者 / 开创者”必须有第三方依据，否则全渠道一句都不能说；认证一次投入、海内外详情页/直播间/广告/展会复用 3 年+（按 18.5 万计月摊约 5,100 元）。“开创者”名分先到先得。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05 重点项目 · 三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新品 KOL 营销 × PR × GEO：引爆 G50 MAX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67665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01168" tIns="18288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A651"/>
                </a:solidFill>
                <a:latin typeface="微软雅黑"/>
                <a:ea typeface="微软雅黑"/>
              </a:rPr>
              <a:t>KOL 营销（海外 + 国内）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05740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F1C"/>
                </a:solidFill>
                <a:latin typeface="微软雅黑"/>
                <a:ea typeface="微软雅黑"/>
              </a:rPr>
              <a:t>海外：</a:t>
            </a:r>
            <a:r>
              <a:rPr sz="1200" b="0">
                <a:solidFill>
                  <a:srgbClr val="1A1F1C"/>
                </a:solidFill>
                <a:latin typeface="微软雅黑"/>
                <a:ea typeface="微软雅黑"/>
              </a:rPr>
              <a:t>已启动 5.9 万美金（金总主抓）；另有 2000 万级达人机会待跟进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9748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F1C"/>
                </a:solidFill>
                <a:latin typeface="微软雅黑"/>
                <a:ea typeface="微软雅黑"/>
              </a:rPr>
              <a:t>国内 18 万 / 3 个月（抖音）：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54680"/>
            <a:ext cx="1965960" cy="868680"/>
          </a:xfrm>
          <a:prstGeom prst="roundRect">
            <a:avLst/>
          </a:prstGeom>
          <a:solidFill>
            <a:srgbClr val="F0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F1C"/>
                </a:solidFill>
                <a:latin typeface="微软雅黑"/>
                <a:ea typeface="微软雅黑"/>
              </a:rPr>
              <a:t>7 月 · 悬念预热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10 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154680"/>
            <a:ext cx="1965960" cy="868680"/>
          </a:xfrm>
          <a:prstGeom prst="roundRect">
            <a:avLst/>
          </a:prstGeom>
          <a:solidFill>
            <a:srgbClr val="F0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F1C"/>
                </a:solidFill>
                <a:latin typeface="微软雅黑"/>
                <a:ea typeface="微软雅黑"/>
              </a:rPr>
              <a:t>8 月 · 上市爆发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5 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154680"/>
            <a:ext cx="1965960" cy="868680"/>
          </a:xfrm>
          <a:prstGeom prst="roundRect">
            <a:avLst/>
          </a:prstGeom>
          <a:solidFill>
            <a:srgbClr val="F0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F1C"/>
                </a:solidFill>
                <a:latin typeface="微软雅黑"/>
                <a:ea typeface="微软雅黑"/>
              </a:rPr>
              <a:t>9 月 · 口碑沉淀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3 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371600"/>
            <a:ext cx="4206240" cy="2834640"/>
          </a:xfrm>
          <a:prstGeom prst="roundRect">
            <a:avLst/>
          </a:prstGeom>
          <a:solidFill>
            <a:srgbClr val="F0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18288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A651"/>
                </a:solidFill>
                <a:latin typeface="微软雅黑"/>
                <a:ea typeface="微软雅黑"/>
              </a:rPr>
              <a:t>目标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2000" b="1">
                <a:solidFill>
                  <a:srgbClr val="00795C"/>
                </a:solidFill>
                <a:latin typeface="微软雅黑"/>
                <a:ea typeface="微软雅黑"/>
              </a:rPr>
              <a:t>60 万  </a:t>
            </a:r>
            <a:r>
              <a:rPr sz="1200" b="0">
                <a:solidFill>
                  <a:srgbClr val="1A1F1C"/>
                </a:solidFill>
                <a:latin typeface="微软雅黑"/>
                <a:ea typeface="微软雅黑"/>
              </a:rPr>
              <a:t>7 月国内销量冲刺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2000" b="1">
                <a:solidFill>
                  <a:srgbClr val="00795C"/>
                </a:solidFill>
                <a:latin typeface="微软雅黑"/>
                <a:ea typeface="微软雅黑"/>
              </a:rPr>
              <a:t>+40%  </a:t>
            </a:r>
            <a:r>
              <a:rPr sz="1200" b="0">
                <a:solidFill>
                  <a:srgbClr val="1A1F1C"/>
                </a:solidFill>
                <a:latin typeface="微软雅黑"/>
                <a:ea typeface="微软雅黑"/>
              </a:rPr>
              <a:t>Q3 国内电商增长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2000" b="1">
                <a:solidFill>
                  <a:srgbClr val="00795C"/>
                </a:solidFill>
                <a:latin typeface="微软雅黑"/>
                <a:ea typeface="微软雅黑"/>
              </a:rPr>
              <a:t>+30%  </a:t>
            </a:r>
            <a:r>
              <a:rPr sz="1200" b="0">
                <a:solidFill>
                  <a:srgbClr val="1A1F1C"/>
                </a:solidFill>
                <a:latin typeface="微软雅黑"/>
                <a:ea typeface="微软雅黑"/>
              </a:rPr>
              <a:t>Q3 海外独立站增长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34840"/>
            <a:ext cx="67665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A651"/>
                </a:solidFill>
                <a:latin typeface="微软雅黑"/>
                <a:ea typeface="微软雅黑"/>
              </a:rPr>
              <a:t>PR 发稿 · 10 万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1A1F1C"/>
                </a:solidFill>
                <a:latin typeface="微软雅黑"/>
                <a:ea typeface="微软雅黑"/>
              </a:rPr>
              <a:t>“全球首款卫星通信随身 WiFi”是品类定义级新闻点，谁先官宣谁是命名者。节奏：上市首发定调 → 8 月认证官宣 → 口碑二次传播；报道素材反哺各业务部门。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434840"/>
            <a:ext cx="4206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82880" t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A651"/>
                </a:solidFill>
                <a:latin typeface="微软雅黑"/>
                <a:ea typeface="微软雅黑"/>
              </a:rPr>
              <a:t>GEO + 社媒（待定）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1A1F1C"/>
                </a:solidFill>
                <a:latin typeface="微软雅黑"/>
                <a:ea typeface="微软雅黑"/>
              </a:rPr>
              <a:t>AI 搜索正在成为品牌流量新入口，GEO + 社媒长效运营，加强精准搜索占位。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06 费用分摊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品牌牵头补品牌力，产品线与 BU 协同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201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234440"/>
                <a:gridCol w="1371600"/>
                <a:gridCol w="1371600"/>
                <a:gridCol w="1188720"/>
                <a:gridCol w="420624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品牌部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电商部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分摊逻辑</a:t>
                      </a:r>
                    </a:p>
                  </a:txBody>
                  <a:tcPr marL="73152" marR="73152" marT="27432" marB="27432" anchor="ctr">
                    <a:solidFill>
                      <a:srgbClr val="0079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官网品牌升级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品宣 + 电商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10.5 万*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6.5 万（素材）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4 万（开发）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官网是电商销售主阵地，开发与转化模块归电商；品牌承担视觉 / 3D 素材资产（全渠道复用）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市场地位认证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品宣类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待定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待定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认证书是品牌资产；“第一/领导者/开创者”话术供产品线海内外全渠道售卖使用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新品 KOL 营销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品宣类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18 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18 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国内新品上市营销预算（参考海外 5.9 万美金投入），补品牌声量与心智短板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PR 发稿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品宣类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10 万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10 万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媒体传播是品牌职能，报道素材全渠道复用</a:t>
                      </a:r>
                    </a:p>
                  </a:txBody>
                  <a:tcPr marL="73152" marR="73152" marT="27432" marB="27432" anchor="ctr">
                    <a:solidFill>
                      <a:srgbClr val="F6FA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GEO / 社媒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品宣类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待定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待定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A1F1C"/>
                          </a:solidFill>
                          <a:latin typeface="微软雅黑"/>
                          <a:ea typeface="微软雅黑"/>
                        </a:rPr>
                        <a:t>品牌长效运营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合计（已明确）</a:t>
                      </a:r>
                    </a:p>
                  </a:txBody>
                  <a:tcPr marL="73152" marR="73152" marT="27432" marB="27432" anchor="ctr">
                    <a:solidFill>
                      <a:srgbClr val="EA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A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38.5 万</a:t>
                      </a:r>
                    </a:p>
                  </a:txBody>
                  <a:tcPr marL="73152" marR="73152" marT="27432" marB="27432" anchor="ctr">
                    <a:solidFill>
                      <a:srgbClr val="EA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34.5 万</a:t>
                      </a:r>
                    </a:p>
                  </a:txBody>
                  <a:tcPr marL="73152" marR="73152" marT="27432" marB="27432" anchor="ctr">
                    <a:solidFill>
                      <a:srgbClr val="EA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4 万</a:t>
                      </a:r>
                    </a:p>
                  </a:txBody>
                  <a:tcPr marL="73152" marR="73152" marT="27432" marB="27432" anchor="ctr">
                    <a:solidFill>
                      <a:srgbClr val="EA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795C"/>
                          </a:solidFill>
                          <a:latin typeface="微软雅黑"/>
                          <a:ea typeface="微软雅黑"/>
                        </a:rPr>
                        <a:t>认证、GEO 确定报价后补充分摊方案</a:t>
                      </a:r>
                    </a:p>
                  </a:txBody>
                  <a:tcPr marL="73152" marR="73152" marT="27432" marB="27432" anchor="ctr">
                    <a:solidFill>
                      <a:srgbClr val="EAF7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746E"/>
                </a:solidFill>
                <a:latin typeface="微软雅黑"/>
                <a:ea typeface="微软雅黑"/>
              </a:rPr>
              <a:t>*官网按 10–11 万区间中值计，最终按谈判结果等比例调整；认证若按宏砺精策 18.5 万打包，可采用“一项一归属”与产品线/BU 分摊。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07 执行节奏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7 月启动，8 月引爆，10 月承接 Q4 大促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01952"/>
            <a:ext cx="10607040" cy="45720"/>
          </a:xfrm>
          <a:prstGeom prst="rect">
            <a:avLst/>
          </a:prstGeom>
          <a:solidFill>
            <a:srgbClr val="D5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801368"/>
            <a:ext cx="256032" cy="25603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7 月上旬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9748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12801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F1C"/>
                </a:solidFill>
                <a:latin typeface="微软雅黑"/>
                <a:ea typeface="微软雅黑"/>
              </a:rPr>
              <a:t>预算批准；认证签约+提交材料（关键路径）；官网立项定档；国内达人悬念预热启动；海外 PR 发布</a:t>
            </a:r>
          </a:p>
        </p:txBody>
      </p:sp>
      <p:sp>
        <p:nvSpPr>
          <p:cNvPr id="8" name="Oval 7"/>
          <p:cNvSpPr/>
          <p:nvPr/>
        </p:nvSpPr>
        <p:spPr>
          <a:xfrm>
            <a:off x="3794760" y="1801368"/>
            <a:ext cx="256032" cy="25603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2402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7 月底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69748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12801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F1C"/>
                </a:solidFill>
                <a:latin typeface="微软雅黑"/>
                <a:ea typeface="微软雅黑"/>
              </a:rPr>
              <a:t>G50 MAX 国内上市；国内首发 PR 稿；官网设计稿确认</a:t>
            </a:r>
          </a:p>
        </p:txBody>
      </p:sp>
      <p:sp>
        <p:nvSpPr>
          <p:cNvPr id="11" name="Oval 10"/>
          <p:cNvSpPr/>
          <p:nvPr/>
        </p:nvSpPr>
        <p:spPr>
          <a:xfrm>
            <a:off x="6080760" y="1801368"/>
            <a:ext cx="256032" cy="25603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2402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8 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69748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12801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F1C"/>
                </a:solidFill>
                <a:latin typeface="微软雅黑"/>
                <a:ea typeface="微软雅黑"/>
              </a:rPr>
              <a:t>认证书交付 → PR 官宣+海外发稿；达人爆发期；官网开发与渲染</a:t>
            </a:r>
          </a:p>
        </p:txBody>
      </p:sp>
      <p:sp>
        <p:nvSpPr>
          <p:cNvPr id="14" name="Oval 13"/>
          <p:cNvSpPr/>
          <p:nvPr/>
        </p:nvSpPr>
        <p:spPr>
          <a:xfrm>
            <a:off x="8366760" y="1801368"/>
            <a:ext cx="256032" cy="25603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2402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9 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69748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12801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F1C"/>
                </a:solidFill>
                <a:latin typeface="微软雅黑"/>
                <a:ea typeface="微软雅黑"/>
              </a:rPr>
              <a:t>官网上线灰度切换；达人口碑沉淀；认证全渠道落地</a:t>
            </a:r>
          </a:p>
        </p:txBody>
      </p:sp>
      <p:sp>
        <p:nvSpPr>
          <p:cNvPr id="17" name="Oval 16"/>
          <p:cNvSpPr/>
          <p:nvPr/>
        </p:nvSpPr>
        <p:spPr>
          <a:xfrm>
            <a:off x="10652760" y="1801368"/>
            <a:ext cx="256032" cy="25603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2402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5C"/>
                </a:solidFill>
                <a:latin typeface="微软雅黑"/>
                <a:ea typeface="微软雅黑"/>
              </a:rPr>
              <a:t>10 月起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69748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12801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F1C"/>
                </a:solidFill>
                <a:latin typeface="微软雅黑"/>
                <a:ea typeface="微软雅黑"/>
              </a:rPr>
              <a:t>新版官网承接 Q4 黑五网一；认证与内容资产长期复用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03520"/>
            <a:ext cx="11201400" cy="914400"/>
          </a:xfrm>
          <a:prstGeom prst="roundRect">
            <a:avLst/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7410"/>
                </a:solidFill>
                <a:latin typeface="微软雅黑"/>
                <a:ea typeface="微软雅黑"/>
              </a:rPr>
              <a:t>两个硬节点：</a:t>
            </a:r>
            <a:r>
              <a:rPr sz="1250" b="0">
                <a:solidFill>
                  <a:srgbClr val="1A1F1C"/>
                </a:solidFill>
                <a:latin typeface="微软雅黑"/>
                <a:ea typeface="微软雅黑"/>
              </a:rPr>
              <a:t>认证需 30 个工作日，须 7 月中旬前签约才赶得上 8 月爆发期官宣；官网须 8 月底上线并稳定，才能吃满 Q4 大促流量。预算审批时间直接决定这两个节点。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51"/>
                </a:solidFill>
                <a:latin typeface="微软雅黑"/>
                <a:ea typeface="微软雅黑"/>
              </a:rPr>
              <a:t>08 请示事项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1A1F1C"/>
                </a:solidFill>
                <a:latin typeface="微软雅黑"/>
                <a:ea typeface="微软雅黑"/>
              </a:rPr>
              <a:t>需要决策的四件事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463040"/>
            <a:ext cx="566928" cy="56692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08176"/>
            <a:ext cx="10332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1F1C"/>
                </a:solidFill>
                <a:latin typeface="微软雅黑"/>
                <a:ea typeface="微软雅黑"/>
              </a:rPr>
              <a:t>批准预算并确认分摊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已明确 38.5 万元（官网 10–11 万 / 国内 KOL 18 万 / PR 10 万），品牌部 34.5 万 + 电商部 4 万；认证与 GEO 报价确定后补充审批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633472"/>
            <a:ext cx="566928" cy="56692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578608"/>
            <a:ext cx="10332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1F1C"/>
                </a:solidFill>
                <a:latin typeface="微软雅黑"/>
                <a:ea typeface="微软雅黑"/>
              </a:rPr>
              <a:t>官网按 8.9 万谈判价执行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建模渲染按 8.9 万谈判价推进，授权以 10–11 万为总包谈判目标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803904"/>
            <a:ext cx="566928" cy="56692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749040"/>
            <a:ext cx="10332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1F1C"/>
                </a:solidFill>
                <a:latin typeface="微软雅黑"/>
                <a:ea typeface="微软雅黑"/>
              </a:rPr>
              <a:t>认证供应商决策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建议按宏砺精策 3 项打包（18.5 万）先行推进；沙利文（48 万）/ 欧睿作为高配备选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4974336"/>
            <a:ext cx="566928" cy="566928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919472"/>
            <a:ext cx="10332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1F1C"/>
                </a:solidFill>
                <a:latin typeface="微软雅黑"/>
                <a:ea typeface="微软雅黑"/>
              </a:rPr>
              <a:t>锁定关键路径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7746E"/>
                </a:solidFill>
                <a:latin typeface="微软雅黑"/>
                <a:ea typeface="微软雅黑"/>
              </a:rPr>
              <a:t>同意 7 月中旬前完成认证签约与达人定档，锁定 8 月爆发期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746E"/>
                </a:solidFill>
                <a:latin typeface="微软雅黑"/>
                <a:ea typeface="微软雅黑"/>
              </a:rPr>
              <a:t>GlocalMe · G50 MAX 新品营销暨官网品牌升级方案  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